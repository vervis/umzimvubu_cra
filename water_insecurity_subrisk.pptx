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journals.plos.org/plosone/article?id=10.1371/journal.pone.0155235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46888"/>
            <a:ext cx="11247120" cy="329184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2500" b="1" i="0">
                <a:solidFill>
                  <a:srgbClr val="17324D"/>
                </a:solidFill>
                <a:latin typeface="Calibri"/>
              </a:rPr>
              <a:t>Old water insecurity sub-risk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1150" b="0" i="0">
                <a:solidFill>
                  <a:srgbClr val="5B677A"/>
                </a:solidFill>
                <a:latin typeface="Calibri"/>
              </a:rPr>
              <a:t>Sub-risk 1: water insecurity from changing rainfall patterns and meteorological drought due to climate change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92840" cy="0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ight Arrow 4"/>
          <p:cNvSpPr/>
          <p:nvPr/>
        </p:nvSpPr>
        <p:spPr>
          <a:xfrm>
            <a:off x="7982712" y="1709928"/>
            <a:ext cx="658367" cy="201168"/>
          </a:xfrm>
          <a:prstGeom prst="rightArrow">
            <a:avLst/>
          </a:prstGeom>
          <a:solidFill>
            <a:srgbClr val="C2410C"/>
          </a:solidFill>
          <a:ln w="63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Arrow 5"/>
          <p:cNvSpPr/>
          <p:nvPr/>
        </p:nvSpPr>
        <p:spPr>
          <a:xfrm>
            <a:off x="7982712" y="3493008"/>
            <a:ext cx="658367" cy="201168"/>
          </a:xfrm>
          <a:prstGeom prst="rightArrow">
            <a:avLst/>
          </a:prstGeom>
          <a:solidFill>
            <a:srgbClr val="15803D"/>
          </a:solidFill>
          <a:ln w="63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7982712" y="5056632"/>
            <a:ext cx="658367" cy="201168"/>
          </a:xfrm>
          <a:prstGeom prst="rightArrow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124712"/>
            <a:ext cx="7223760" cy="1417320"/>
          </a:xfrm>
          <a:prstGeom prst="roundRect">
            <a:avLst/>
          </a:prstGeom>
          <a:solidFill>
            <a:srgbClr val="FDECE7"/>
          </a:solidFill>
          <a:ln w="1714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225296"/>
            <a:ext cx="6894576" cy="256032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1550" b="1" i="0">
                <a:solidFill>
                  <a:srgbClr val="C2410C"/>
                </a:solidFill>
                <a:latin typeface="Calibri"/>
              </a:rPr>
              <a:t>Hazard: climate-driven water 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517922"/>
            <a:ext cx="3182090" cy="941796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r>
              <a:rPr sz="1200" b="0" i="0" dirty="0">
                <a:solidFill>
                  <a:srgbClr val="1F2937"/>
                </a:solidFill>
                <a:latin typeface="Calibri"/>
              </a:rPr>
              <a:t>Annual rainfall volume — rainfall supply
SPEI — drought severity
Annual rainfall variability — year-to-year variability
Consecutive dry days — dry-spell length
Aridity index — baseline dryness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409" y="3012948"/>
            <a:ext cx="7223760" cy="1581912"/>
          </a:xfrm>
          <a:prstGeom prst="roundRect">
            <a:avLst/>
          </a:prstGeom>
          <a:solidFill>
            <a:srgbClr val="ECFDF3"/>
          </a:solidFill>
          <a:ln w="1714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2001" y="3113532"/>
            <a:ext cx="6894576" cy="256032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1550" b="1" i="0">
                <a:solidFill>
                  <a:srgbClr val="15803D"/>
                </a:solidFill>
                <a:latin typeface="Calibri"/>
              </a:rPr>
              <a:t>Vulnerability: agricultural water sensitivity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1" y="3396121"/>
            <a:ext cx="3269806" cy="112646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r>
              <a:rPr sz="1200" b="0" i="0" dirty="0">
                <a:solidFill>
                  <a:srgbClr val="1F2937"/>
                </a:solidFill>
                <a:latin typeface="Calibri"/>
              </a:rPr>
              <a:t>Rainfed crops — reliance on rainfall
Agriculture reliance — livelihood dependence
Agricultural resources — productive capacity
Water stress — demand vs supply
Long-term grazing capacity — forage resilience
Water ecological infrastructure — natural regulation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111496"/>
            <a:ext cx="7223760" cy="1097280"/>
          </a:xfrm>
          <a:prstGeom prst="roundRect">
            <a:avLst/>
          </a:prstGeom>
          <a:solidFill>
            <a:srgbClr val="EAF2FF"/>
          </a:solidFill>
          <a:ln w="1714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5203952"/>
            <a:ext cx="6894576" cy="256032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1550" b="1" i="0" dirty="0">
                <a:solidFill>
                  <a:srgbClr val="2563EB"/>
                </a:solidFill>
                <a:latin typeface="Calibri"/>
              </a:rPr>
              <a:t>Exposure: target producers and communities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531261"/>
            <a:ext cx="4947508" cy="387798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r>
              <a:rPr sz="1200" b="0" i="0" dirty="0">
                <a:solidFill>
                  <a:srgbClr val="1F2937"/>
                </a:solidFill>
                <a:latin typeface="Calibri"/>
              </a:rPr>
              <a:t>Financial capacity — low-income areas
Smallholder/household producer presence — people and farming assets at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810512"/>
            <a:ext cx="2880360" cy="3621024"/>
          </a:xfrm>
          <a:prstGeom prst="roundRect">
            <a:avLst/>
          </a:prstGeom>
          <a:solidFill>
            <a:srgbClr val="F5F5F4"/>
          </a:solidFill>
          <a:ln w="17145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97112" y="1965960"/>
            <a:ext cx="2551176" cy="384048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1650" b="1" i="0">
                <a:solidFill>
                  <a:srgbClr val="44403C"/>
                </a:solidFill>
                <a:latin typeface="Calibri"/>
              </a:rPr>
              <a:t>Overall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3413295"/>
            <a:ext cx="2512739" cy="726353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r>
              <a:rPr sz="1150" b="0" i="0" dirty="0">
                <a:solidFill>
                  <a:srgbClr val="1F2937"/>
                </a:solidFill>
                <a:latin typeface="Calibri"/>
              </a:rPr>
              <a:t>Water insecurity risk
Crop failure, livestock stress/loss, </a:t>
            </a:r>
            <a:endParaRPr lang="en-ZA" sz="1150" b="0" i="0" dirty="0">
              <a:solidFill>
                <a:srgbClr val="1F2937"/>
              </a:solidFill>
              <a:latin typeface="Calibri"/>
            </a:endParaRPr>
          </a:p>
          <a:p>
            <a:r>
              <a:rPr sz="1150" b="0" i="0" dirty="0">
                <a:solidFill>
                  <a:srgbClr val="1F2937"/>
                </a:solidFill>
                <a:latin typeface="Calibri"/>
              </a:rPr>
              <a:t>yield decline, water stress and soil drying.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5111496"/>
            <a:ext cx="2551176" cy="18288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50" b="0" i="1">
                <a:solidFill>
                  <a:srgbClr val="5B677A"/>
                </a:solidFill>
                <a:latin typeface="Calibri"/>
              </a:rPr>
              <a:t>Composite = H + V + 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10972800" cy="201168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50" b="0" i="0">
                <a:solidFill>
                  <a:srgbClr val="7A7A7A"/>
                </a:solidFill>
                <a:latin typeface="Calibri"/>
              </a:rPr>
              <a:t>Source: CRA_data_sources_draft.xlsx — Sub-risk 1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DD6F-017E-8725-7D27-F951E2EA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38EDAE-49E5-9DD4-4014-46ABF5288039}"/>
              </a:ext>
            </a:extLst>
          </p:cNvPr>
          <p:cNvSpPr txBox="1"/>
          <p:nvPr/>
        </p:nvSpPr>
        <p:spPr>
          <a:xfrm>
            <a:off x="438912" y="246888"/>
            <a:ext cx="4502515" cy="403187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lang="en-ZA" sz="2500" b="1" i="0" dirty="0">
                <a:solidFill>
                  <a:srgbClr val="17324D"/>
                </a:solidFill>
                <a:latin typeface="Calibri"/>
              </a:rPr>
              <a:t>Updated</a:t>
            </a:r>
            <a:r>
              <a:rPr sz="2500" b="1" i="0" dirty="0">
                <a:solidFill>
                  <a:srgbClr val="17324D"/>
                </a:solidFill>
                <a:latin typeface="Calibri"/>
              </a:rPr>
              <a:t> water insecurity sub-risk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C540A-0F7F-CC1C-A468-F8622BD3A751}"/>
              </a:ext>
            </a:extLst>
          </p:cNvPr>
          <p:cNvSpPr txBox="1"/>
          <p:nvPr/>
        </p:nvSpPr>
        <p:spPr>
          <a:xfrm>
            <a:off x="457200" y="658368"/>
            <a:ext cx="11155680" cy="256032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1150" b="0" i="0">
                <a:solidFill>
                  <a:srgbClr val="5B677A"/>
                </a:solidFill>
                <a:latin typeface="Calibri"/>
              </a:rPr>
              <a:t>Sub-risk 1: water insecurity from changing rainfall patterns and meteorological drought due to climate change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81401363-A4A3-DAC1-3F0B-E5BCD8A3BD4D}"/>
              </a:ext>
            </a:extLst>
          </p:cNvPr>
          <p:cNvCxnSpPr/>
          <p:nvPr/>
        </p:nvCxnSpPr>
        <p:spPr>
          <a:xfrm>
            <a:off x="457200" y="960120"/>
            <a:ext cx="11292840" cy="0"/>
          </a:xfrm>
          <a:prstGeom prst="line">
            <a:avLst/>
          </a:prstGeom>
          <a:ln w="12700">
            <a:solidFill>
              <a:srgbClr val="D6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ight Arrow 4">
            <a:extLst>
              <a:ext uri="{FF2B5EF4-FFF2-40B4-BE49-F238E27FC236}">
                <a16:creationId xmlns:a16="http://schemas.microsoft.com/office/drawing/2014/main" id="{E7F5F82D-1869-3548-8FF7-97F287BAED56}"/>
              </a:ext>
            </a:extLst>
          </p:cNvPr>
          <p:cNvSpPr/>
          <p:nvPr/>
        </p:nvSpPr>
        <p:spPr>
          <a:xfrm>
            <a:off x="7982712" y="1709928"/>
            <a:ext cx="658367" cy="201168"/>
          </a:xfrm>
          <a:prstGeom prst="rightArrow">
            <a:avLst/>
          </a:prstGeom>
          <a:solidFill>
            <a:srgbClr val="C2410C"/>
          </a:solidFill>
          <a:ln w="63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866CA87C-5F16-DE17-F5C0-E001BA7215DA}"/>
              </a:ext>
            </a:extLst>
          </p:cNvPr>
          <p:cNvSpPr/>
          <p:nvPr/>
        </p:nvSpPr>
        <p:spPr>
          <a:xfrm>
            <a:off x="7982712" y="3493008"/>
            <a:ext cx="658367" cy="201168"/>
          </a:xfrm>
          <a:prstGeom prst="rightArrow">
            <a:avLst/>
          </a:prstGeom>
          <a:solidFill>
            <a:srgbClr val="15803D"/>
          </a:solidFill>
          <a:ln w="63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EEB39ECB-BC6F-B8D1-E79F-94C5D4A7C712}"/>
              </a:ext>
            </a:extLst>
          </p:cNvPr>
          <p:cNvSpPr/>
          <p:nvPr/>
        </p:nvSpPr>
        <p:spPr>
          <a:xfrm>
            <a:off x="7982712" y="5056632"/>
            <a:ext cx="658367" cy="201168"/>
          </a:xfrm>
          <a:prstGeom prst="rightArrow">
            <a:avLst/>
          </a:prstGeom>
          <a:solidFill>
            <a:srgbClr val="2563EB"/>
          </a:solidFill>
          <a:ln w="63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DB1E48D-F608-2481-B27F-BCB7AEC91680}"/>
              </a:ext>
            </a:extLst>
          </p:cNvPr>
          <p:cNvSpPr/>
          <p:nvPr/>
        </p:nvSpPr>
        <p:spPr>
          <a:xfrm>
            <a:off x="594360" y="1124711"/>
            <a:ext cx="7223760" cy="1577337"/>
          </a:xfrm>
          <a:prstGeom prst="roundRect">
            <a:avLst/>
          </a:prstGeom>
          <a:solidFill>
            <a:srgbClr val="FDECE7"/>
          </a:solidFill>
          <a:ln w="1714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480C1-218F-62B7-3DEC-E35BC096CD38}"/>
              </a:ext>
            </a:extLst>
          </p:cNvPr>
          <p:cNvSpPr txBox="1"/>
          <p:nvPr/>
        </p:nvSpPr>
        <p:spPr>
          <a:xfrm>
            <a:off x="758952" y="1225296"/>
            <a:ext cx="6894576" cy="256032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1550" b="1" i="0">
                <a:solidFill>
                  <a:srgbClr val="C2410C"/>
                </a:solidFill>
                <a:latin typeface="Calibri"/>
              </a:rPr>
              <a:t>Hazard: climate-driven water stress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5655AD-D917-9824-CF35-B44E5DE8275C}"/>
              </a:ext>
            </a:extLst>
          </p:cNvPr>
          <p:cNvSpPr txBox="1"/>
          <p:nvPr/>
        </p:nvSpPr>
        <p:spPr>
          <a:xfrm>
            <a:off x="758952" y="1425589"/>
            <a:ext cx="3236784" cy="1126462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r>
              <a:rPr sz="1200" b="0" i="0" dirty="0">
                <a:solidFill>
                  <a:srgbClr val="1F2937"/>
                </a:solidFill>
                <a:latin typeface="Calibri"/>
              </a:rPr>
              <a:t>Annual rainfall volume — rainfall supply
SPEI — drought severity
Annual rainfall variability — year-to-year variability
Consecutive dry days — dry-spell length
Aridity index — baseline dryness</a:t>
            </a:r>
            <a:endParaRPr lang="en-ZA" sz="1200" b="0" i="0" dirty="0">
              <a:solidFill>
                <a:srgbClr val="1F2937"/>
              </a:solidFill>
              <a:latin typeface="Calibri"/>
            </a:endParaRPr>
          </a:p>
          <a:p>
            <a:r>
              <a:rPr lang="en-ZA" sz="1200" dirty="0">
                <a:solidFill>
                  <a:srgbClr val="1F2937"/>
                </a:solidFill>
              </a:rPr>
              <a:t>Water stress — demand vs supply (but need future)</a:t>
            </a:r>
            <a:endParaRPr sz="1200" b="0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8CAED3-DFE1-E8F8-8337-BADB2582767C}"/>
              </a:ext>
            </a:extLst>
          </p:cNvPr>
          <p:cNvSpPr/>
          <p:nvPr/>
        </p:nvSpPr>
        <p:spPr>
          <a:xfrm>
            <a:off x="597409" y="3012947"/>
            <a:ext cx="7223760" cy="1808831"/>
          </a:xfrm>
          <a:prstGeom prst="roundRect">
            <a:avLst/>
          </a:prstGeom>
          <a:solidFill>
            <a:srgbClr val="ECFDF3"/>
          </a:solidFill>
          <a:ln w="1714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25407-F693-9031-E21C-E26D4ABF65BF}"/>
              </a:ext>
            </a:extLst>
          </p:cNvPr>
          <p:cNvSpPr txBox="1"/>
          <p:nvPr/>
        </p:nvSpPr>
        <p:spPr>
          <a:xfrm>
            <a:off x="762001" y="3113532"/>
            <a:ext cx="6894576" cy="256032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1550" b="1" i="0">
                <a:solidFill>
                  <a:srgbClr val="15803D"/>
                </a:solidFill>
                <a:latin typeface="Calibri"/>
              </a:rPr>
              <a:t>Vulnerability: agricultural water sensitivity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C8C55D-0215-F0B8-E720-CBD6CEBCB41F}"/>
              </a:ext>
            </a:extLst>
          </p:cNvPr>
          <p:cNvSpPr txBox="1"/>
          <p:nvPr/>
        </p:nvSpPr>
        <p:spPr>
          <a:xfrm>
            <a:off x="762000" y="3396121"/>
            <a:ext cx="6894577" cy="112646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r>
              <a:rPr lang="en-ZA" sz="1200" b="0" i="0" dirty="0">
                <a:solidFill>
                  <a:srgbClr val="1F2937"/>
                </a:solidFill>
                <a:latin typeface="Calibri"/>
              </a:rPr>
              <a:t>Rainfed crops — reliance on rainfall</a:t>
            </a:r>
            <a:r>
              <a:rPr sz="1200" b="0" i="0" dirty="0">
                <a:solidFill>
                  <a:srgbClr val="1F2937"/>
                </a:solidFill>
                <a:latin typeface="Calibri"/>
              </a:rPr>
              <a:t>
Agriculture reliance — livelihood dependence</a:t>
            </a:r>
            <a:r>
              <a:rPr lang="en-ZA" sz="1200" b="0" i="0" dirty="0">
                <a:solidFill>
                  <a:srgbClr val="1F2937"/>
                </a:solidFill>
                <a:latin typeface="Calibri"/>
              </a:rPr>
              <a:t> (</a:t>
            </a:r>
            <a:r>
              <a:rPr lang="en-ZA" sz="1200" b="0" i="0" dirty="0" err="1">
                <a:solidFill>
                  <a:srgbClr val="1F2937"/>
                </a:solidFill>
                <a:latin typeface="Calibri"/>
              </a:rPr>
              <a:t>StatsSA</a:t>
            </a:r>
            <a:r>
              <a:rPr lang="en-ZA" sz="1200" b="0" i="0" dirty="0">
                <a:solidFill>
                  <a:srgbClr val="1F2937"/>
                </a:solidFill>
                <a:latin typeface="Calibri"/>
              </a:rPr>
              <a:t>)
Long-term grazing capacity — forage resilience </a:t>
            </a:r>
          </a:p>
          <a:p>
            <a:r>
              <a:rPr lang="en-ZA" sz="1200" dirty="0">
                <a:solidFill>
                  <a:srgbClr val="1F2937"/>
                </a:solidFill>
                <a:latin typeface="Calibri"/>
              </a:rPr>
              <a:t>Livestock numbers - </a:t>
            </a:r>
            <a:r>
              <a:rPr lang="en-ZA" sz="1200" b="0" i="0" dirty="0">
                <a:solidFill>
                  <a:srgbClr val="1F2937"/>
                </a:solidFill>
                <a:latin typeface="Calibri"/>
              </a:rPr>
              <a:t>(flag as something to get)</a:t>
            </a:r>
            <a:r>
              <a:rPr sz="1200" b="0" i="0" dirty="0">
                <a:solidFill>
                  <a:srgbClr val="1F2937"/>
                </a:solidFill>
                <a:latin typeface="Calibri"/>
              </a:rPr>
              <a:t>
</a:t>
            </a:r>
            <a:r>
              <a:rPr lang="en-ZA" sz="1200" b="0" i="0" dirty="0">
                <a:solidFill>
                  <a:srgbClr val="1F2937"/>
                </a:solidFill>
                <a:latin typeface="Calibri"/>
              </a:rPr>
              <a:t>Invasives extent – try to get updated layer using code and training points</a:t>
            </a:r>
          </a:p>
          <a:p>
            <a:r>
              <a:rPr lang="en-ZA" sz="1200" dirty="0">
                <a:hlinkClick r:id="rId2"/>
              </a:rPr>
              <a:t>A Socio-Ecological Approach for Identifying and Contextualising Spatial Ecosystem-Based Adaptation P…</a:t>
            </a:r>
            <a:endParaRPr sz="1200" b="0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94E3F7-713F-99E7-F628-A5DC8038626E}"/>
              </a:ext>
            </a:extLst>
          </p:cNvPr>
          <p:cNvSpPr/>
          <p:nvPr/>
        </p:nvSpPr>
        <p:spPr>
          <a:xfrm>
            <a:off x="594360" y="5056632"/>
            <a:ext cx="7223760" cy="1152144"/>
          </a:xfrm>
          <a:prstGeom prst="roundRect">
            <a:avLst/>
          </a:prstGeom>
          <a:solidFill>
            <a:srgbClr val="EAF2FF"/>
          </a:solidFill>
          <a:ln w="1714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E80E4-4AD9-7190-7E56-2700FE9061B5}"/>
              </a:ext>
            </a:extLst>
          </p:cNvPr>
          <p:cNvSpPr txBox="1"/>
          <p:nvPr/>
        </p:nvSpPr>
        <p:spPr>
          <a:xfrm>
            <a:off x="758952" y="5132832"/>
            <a:ext cx="6894576" cy="256032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1550" b="1" i="0" dirty="0">
                <a:solidFill>
                  <a:srgbClr val="2563EB"/>
                </a:solidFill>
                <a:latin typeface="Calibri"/>
              </a:rPr>
              <a:t>Exposure: target producers and communities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F25006-73F7-4A3B-B32B-0770FA7A727C}"/>
              </a:ext>
            </a:extLst>
          </p:cNvPr>
          <p:cNvSpPr txBox="1"/>
          <p:nvPr/>
        </p:nvSpPr>
        <p:spPr>
          <a:xfrm>
            <a:off x="758952" y="5346595"/>
            <a:ext cx="6894576" cy="75713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r>
              <a:rPr sz="1200" b="0" i="0" dirty="0">
                <a:solidFill>
                  <a:srgbClr val="1F2937"/>
                </a:solidFill>
                <a:latin typeface="Calibri"/>
              </a:rPr>
              <a:t>Financial capacity — low-income areas</a:t>
            </a:r>
            <a:r>
              <a:rPr lang="en-ZA" sz="1200" b="0" i="0" dirty="0">
                <a:solidFill>
                  <a:srgbClr val="1F2937"/>
                </a:solidFill>
                <a:latin typeface="Calibri"/>
              </a:rPr>
              <a:t> (could be moved to Vulnerability)</a:t>
            </a:r>
            <a:r>
              <a:rPr sz="1200" b="0" i="0" dirty="0">
                <a:solidFill>
                  <a:srgbClr val="1F2937"/>
                </a:solidFill>
                <a:latin typeface="Calibri"/>
              </a:rPr>
              <a:t>
Smallholder/household producer presence — people and farming assets at risk</a:t>
            </a:r>
            <a:r>
              <a:rPr lang="en-ZA" sz="1200" dirty="0">
                <a:solidFill>
                  <a:srgbClr val="1F2937"/>
                </a:solidFill>
              </a:rPr>
              <a:t> (could be moved to Vulnerability)</a:t>
            </a:r>
            <a:endParaRPr lang="en-ZA" sz="1200" b="0" i="0" dirty="0">
              <a:solidFill>
                <a:srgbClr val="1F2937"/>
              </a:solidFill>
              <a:latin typeface="Calibri"/>
            </a:endParaRPr>
          </a:p>
          <a:p>
            <a:r>
              <a:rPr lang="en-ZA" sz="1200" b="0" i="0" dirty="0">
                <a:solidFill>
                  <a:srgbClr val="1F2937"/>
                </a:solidFill>
                <a:latin typeface="Calibri"/>
              </a:rPr>
              <a:t>Strategic Water Source Areas – Ground and Surface</a:t>
            </a:r>
            <a:endParaRPr sz="1200" b="0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E7E02A4-1EA8-BEDA-857A-12C1174E8D19}"/>
              </a:ext>
            </a:extLst>
          </p:cNvPr>
          <p:cNvSpPr/>
          <p:nvPr/>
        </p:nvSpPr>
        <p:spPr>
          <a:xfrm>
            <a:off x="8732520" y="1810512"/>
            <a:ext cx="2880360" cy="3621024"/>
          </a:xfrm>
          <a:prstGeom prst="roundRect">
            <a:avLst/>
          </a:prstGeom>
          <a:solidFill>
            <a:srgbClr val="F5F5F4"/>
          </a:solidFill>
          <a:ln w="17145"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7F105E-A88F-72B1-4A74-A3A109C37EBB}"/>
              </a:ext>
            </a:extLst>
          </p:cNvPr>
          <p:cNvSpPr txBox="1"/>
          <p:nvPr/>
        </p:nvSpPr>
        <p:spPr>
          <a:xfrm>
            <a:off x="8897112" y="1965960"/>
            <a:ext cx="2551176" cy="384048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1650" b="1" i="0">
                <a:solidFill>
                  <a:srgbClr val="44403C"/>
                </a:solidFill>
                <a:latin typeface="Calibri"/>
              </a:rPr>
              <a:t>Overall risk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20B8DF-3E3E-1CFA-51EB-B40DA30BEDC0}"/>
              </a:ext>
            </a:extLst>
          </p:cNvPr>
          <p:cNvSpPr txBox="1"/>
          <p:nvPr/>
        </p:nvSpPr>
        <p:spPr>
          <a:xfrm>
            <a:off x="8897112" y="3413295"/>
            <a:ext cx="2512739" cy="726353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r>
              <a:rPr sz="1150" b="0" i="0" dirty="0">
                <a:solidFill>
                  <a:srgbClr val="1F2937"/>
                </a:solidFill>
                <a:latin typeface="Calibri"/>
              </a:rPr>
              <a:t>Water insecurity risk
Crop failure, livestock stress/loss, </a:t>
            </a:r>
            <a:endParaRPr lang="en-ZA" sz="1150" b="0" i="0" dirty="0">
              <a:solidFill>
                <a:srgbClr val="1F2937"/>
              </a:solidFill>
              <a:latin typeface="Calibri"/>
            </a:endParaRPr>
          </a:p>
          <a:p>
            <a:r>
              <a:rPr sz="1150" b="0" i="0" dirty="0">
                <a:solidFill>
                  <a:srgbClr val="1F2937"/>
                </a:solidFill>
                <a:latin typeface="Calibri"/>
              </a:rPr>
              <a:t>yield decline, water stress and soil drying.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BF647C-5EEC-419A-68C9-3C0E7FD7C80B}"/>
              </a:ext>
            </a:extLst>
          </p:cNvPr>
          <p:cNvSpPr txBox="1"/>
          <p:nvPr/>
        </p:nvSpPr>
        <p:spPr>
          <a:xfrm>
            <a:off x="8897112" y="5111496"/>
            <a:ext cx="2551176" cy="18288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50" b="0" i="1">
                <a:solidFill>
                  <a:srgbClr val="5B677A"/>
                </a:solidFill>
                <a:latin typeface="Calibri"/>
              </a:rPr>
              <a:t>Composite = H + V + 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9395F1-EBEC-3DD3-648F-1924FECF6BBE}"/>
              </a:ext>
            </a:extLst>
          </p:cNvPr>
          <p:cNvSpPr txBox="1"/>
          <p:nvPr/>
        </p:nvSpPr>
        <p:spPr>
          <a:xfrm>
            <a:off x="502920" y="6519672"/>
            <a:ext cx="4777013" cy="203133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lang="en-ZA" sz="1200" b="0" i="0" dirty="0">
                <a:solidFill>
                  <a:srgbClr val="7A7A7A"/>
                </a:solidFill>
                <a:latin typeface="Calibri"/>
              </a:rPr>
              <a:t>We can have different scenarios of clearing – add the cost of clearing in here</a:t>
            </a:r>
            <a:endParaRPr sz="1200" b="0" i="0" dirty="0">
              <a:solidFill>
                <a:srgbClr val="7A7A7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641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CF601-E374-17FC-07F0-4EA07E06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B4273-8C5D-C417-B137-F7EC39AF8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328400" cy="4525963"/>
          </a:xfrm>
        </p:spPr>
        <p:txBody>
          <a:bodyPr/>
          <a:lstStyle/>
          <a:p>
            <a:r>
              <a:rPr lang="en-ZA" dirty="0"/>
              <a:t>The climate risk this project seeks to quantify is the loss, compromise, and/or inability to improve livelihoods due to water insecurity.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92227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419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Vernon Visser</cp:lastModifiedBy>
  <cp:revision>3</cp:revision>
  <dcterms:created xsi:type="dcterms:W3CDTF">2013-01-27T09:14:16Z</dcterms:created>
  <dcterms:modified xsi:type="dcterms:W3CDTF">2026-07-14T07:20:08Z</dcterms:modified>
  <cp:category/>
</cp:coreProperties>
</file>